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Gill Sans"/>
      <p:regular r:id="rId21"/>
      <p:bold r:id="rId22"/>
    </p:embeddedFon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6">
          <p15:clr>
            <a:srgbClr val="747775"/>
          </p15:clr>
        </p15:guide>
        <p15:guide id="2" pos="3888">
          <p15:clr>
            <a:srgbClr val="747775"/>
          </p15:clr>
        </p15:guide>
        <p15:guide id="3" pos="4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6" orient="horz"/>
        <p:guide pos="3888"/>
        <p:guide pos="4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illSans-bold.fntdata"/><Relationship Id="rId21" Type="http://schemas.openxmlformats.org/officeDocument/2006/relationships/font" Target="fonts/GillSans-regular.fntdata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7d0da07a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47d0da07a9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7d0da07a9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7d0da07a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7d0da07a9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7d0da07a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7d0da07a9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7d0da07a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7d0da07a9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47d0da07a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7f7edbff4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7f7edbff4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7f7edbff4_23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47f7edbff4_2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47f7edbff4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47f7edbff4_4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7d0da07a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47d0da07a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7d0da07a9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47d0da07a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7d0da07a9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47d0da07a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47f7edbff4_2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47f7edbff4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FEFEF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" name="Google Shape;19;p2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0" name="Google Shape;20;p2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FEFEFE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FEFEFE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FEFEFE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1629103" y="2244830"/>
            <a:ext cx="8933796" cy="2437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6800"/>
              <a:buFont typeface="Century Gothic"/>
              <a:buNone/>
              <a:defRPr b="0" sz="6800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1629101" y="4682062"/>
            <a:ext cx="8936846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2"/>
          <p:cNvSpPr txBox="1"/>
          <p:nvPr>
            <p:ph idx="10" type="dt"/>
          </p:nvPr>
        </p:nvSpPr>
        <p:spPr>
          <a:xfrm>
            <a:off x="5318760" y="1341256"/>
            <a:ext cx="1554480" cy="485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1" type="ftr"/>
          </p:nvPr>
        </p:nvSpPr>
        <p:spPr>
          <a:xfrm>
            <a:off x="1629100" y="5177408"/>
            <a:ext cx="5730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EFEF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12" type="sldNum"/>
          </p:nvPr>
        </p:nvSpPr>
        <p:spPr>
          <a:xfrm>
            <a:off x="8606920" y="5177408"/>
            <a:ext cx="19559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6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55" name="Google Shape;55;p6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6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" name="Google Shape;57;p6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8" name="Google Shape;58;p6"/>
          <p:cNvSpPr txBox="1"/>
          <p:nvPr>
            <p:ph type="ctrTitle"/>
          </p:nvPr>
        </p:nvSpPr>
        <p:spPr>
          <a:xfrm>
            <a:off x="1629103" y="2244830"/>
            <a:ext cx="8933796" cy="2437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Century Gothic"/>
              <a:buNone/>
              <a:defRPr b="0" sz="68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" type="subTitle"/>
          </p:nvPr>
        </p:nvSpPr>
        <p:spPr>
          <a:xfrm>
            <a:off x="1629101" y="4682062"/>
            <a:ext cx="8936846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0" name="Google Shape;60;p6"/>
          <p:cNvSpPr txBox="1"/>
          <p:nvPr>
            <p:ph idx="10" type="dt"/>
          </p:nvPr>
        </p:nvSpPr>
        <p:spPr>
          <a:xfrm>
            <a:off x="5318760" y="1341256"/>
            <a:ext cx="1554480" cy="485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1" type="ftr"/>
          </p:nvPr>
        </p:nvSpPr>
        <p:spPr>
          <a:xfrm>
            <a:off x="1629100" y="5177408"/>
            <a:ext cx="5730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606920" y="5177408"/>
            <a:ext cx="19559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 txBox="1"/>
          <p:nvPr>
            <p:ph type="title"/>
          </p:nvPr>
        </p:nvSpPr>
        <p:spPr>
          <a:xfrm>
            <a:off x="1629156" y="2275165"/>
            <a:ext cx="8933688" cy="2406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Century Gothic"/>
              <a:buNone/>
              <a:defRPr sz="68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9" name="Google Shape;69;p7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70" name="Google Shape;70;p7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7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7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3" name="Google Shape;73;p7"/>
          <p:cNvSpPr txBox="1"/>
          <p:nvPr>
            <p:ph idx="1" type="body"/>
          </p:nvPr>
        </p:nvSpPr>
        <p:spPr>
          <a:xfrm>
            <a:off x="1629156" y="4682062"/>
            <a:ext cx="8939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0" type="dt"/>
          </p:nvPr>
        </p:nvSpPr>
        <p:spPr>
          <a:xfrm>
            <a:off x="5318760" y="1344502"/>
            <a:ext cx="1554480" cy="498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1" type="ftr"/>
          </p:nvPr>
        </p:nvSpPr>
        <p:spPr>
          <a:xfrm>
            <a:off x="1629157" y="5177408"/>
            <a:ext cx="5660134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604504" y="5177408"/>
            <a:ext cx="19583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" type="body"/>
          </p:nvPr>
        </p:nvSpPr>
        <p:spPr>
          <a:xfrm>
            <a:off x="106680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80" name="Google Shape;80;p8"/>
          <p:cNvSpPr txBox="1"/>
          <p:nvPr>
            <p:ph idx="2" type="body"/>
          </p:nvPr>
        </p:nvSpPr>
        <p:spPr>
          <a:xfrm>
            <a:off x="646176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" type="body"/>
          </p:nvPr>
        </p:nvSpPr>
        <p:spPr>
          <a:xfrm>
            <a:off x="1069848" y="2074334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1" i="0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9"/>
          <p:cNvSpPr txBox="1"/>
          <p:nvPr>
            <p:ph idx="2" type="body"/>
          </p:nvPr>
        </p:nvSpPr>
        <p:spPr>
          <a:xfrm>
            <a:off x="1069848" y="2792472"/>
            <a:ext cx="4663440" cy="31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88" name="Google Shape;88;p9"/>
          <p:cNvSpPr txBox="1"/>
          <p:nvPr>
            <p:ph idx="3" type="body"/>
          </p:nvPr>
        </p:nvSpPr>
        <p:spPr>
          <a:xfrm>
            <a:off x="6458712" y="2074334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1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9"/>
          <p:cNvSpPr txBox="1"/>
          <p:nvPr>
            <p:ph idx="4" type="body"/>
          </p:nvPr>
        </p:nvSpPr>
        <p:spPr>
          <a:xfrm>
            <a:off x="6458712" y="2792471"/>
            <a:ext cx="4663440" cy="3164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90" name="Google Shape;90;p9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0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2"/>
          <p:cNvSpPr txBox="1"/>
          <p:nvPr>
            <p:ph type="title"/>
          </p:nvPr>
        </p:nvSpPr>
        <p:spPr>
          <a:xfrm>
            <a:off x="8458200" y="607392"/>
            <a:ext cx="3161963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b="0" sz="3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>
            <a:off x="685800" y="609600"/>
            <a:ext cx="6858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00"/>
              <a:buChar char="◦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107" name="Google Shape;107;p12"/>
          <p:cNvSpPr txBox="1"/>
          <p:nvPr>
            <p:ph idx="2" type="body"/>
          </p:nvPr>
        </p:nvSpPr>
        <p:spPr>
          <a:xfrm>
            <a:off x="8458200" y="2336800"/>
            <a:ext cx="3161963" cy="3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5588000" y="6035040"/>
            <a:ext cx="195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685801" y="6035040"/>
            <a:ext cx="45847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10396728" y="6035040"/>
            <a:ext cx="12234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/>
          <p:nvPr>
            <p:ph idx="2" type="pic"/>
          </p:nvPr>
        </p:nvSpPr>
        <p:spPr>
          <a:xfrm>
            <a:off x="228599" y="237744"/>
            <a:ext cx="7696201" cy="6382512"/>
          </a:xfrm>
          <a:prstGeom prst="rect">
            <a:avLst/>
          </a:prstGeom>
          <a:solidFill>
            <a:srgbClr val="85E761"/>
          </a:solidFill>
          <a:ln>
            <a:noFill/>
          </a:ln>
        </p:spPr>
      </p:sp>
      <p:sp>
        <p:nvSpPr>
          <p:cNvPr id="114" name="Google Shape;114;p13"/>
          <p:cNvSpPr txBox="1"/>
          <p:nvPr>
            <p:ph idx="10" type="dt"/>
          </p:nvPr>
        </p:nvSpPr>
        <p:spPr>
          <a:xfrm>
            <a:off x="5662337" y="6035040"/>
            <a:ext cx="20719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1" type="ftr"/>
          </p:nvPr>
        </p:nvSpPr>
        <p:spPr>
          <a:xfrm>
            <a:off x="612648" y="6035040"/>
            <a:ext cx="458800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12" type="sldNum"/>
          </p:nvPr>
        </p:nvSpPr>
        <p:spPr>
          <a:xfrm>
            <a:off x="10396728" y="6035040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"/>
          <p:cNvSpPr txBox="1"/>
          <p:nvPr>
            <p:ph type="title"/>
          </p:nvPr>
        </p:nvSpPr>
        <p:spPr>
          <a:xfrm>
            <a:off x="8477250" y="603504"/>
            <a:ext cx="314477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b="0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" type="body"/>
          </p:nvPr>
        </p:nvSpPr>
        <p:spPr>
          <a:xfrm>
            <a:off x="8477250" y="2386584"/>
            <a:ext cx="3144774" cy="3511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" type="body"/>
          </p:nvPr>
        </p:nvSpPr>
        <p:spPr>
          <a:xfrm rot="5400000">
            <a:off x="4171188" y="-1001268"/>
            <a:ext cx="3849624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4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type="title"/>
          </p:nvPr>
        </p:nvSpPr>
        <p:spPr>
          <a:xfrm rot="5400000">
            <a:off x="7543800" y="2209800"/>
            <a:ext cx="5257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idx="1" type="body"/>
          </p:nvPr>
        </p:nvSpPr>
        <p:spPr>
          <a:xfrm rot="5400000">
            <a:off x="2247900" y="-647700"/>
            <a:ext cx="5257800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cap="sq" cmpd="sng" w="9525">
            <a:solidFill>
              <a:srgbClr val="FEFEF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rgbClr val="BFBFB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cap="sq" cmpd="sng" w="952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00" u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00" u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00" u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00" u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00" u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00" u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00" u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00" u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00" u="non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Relationship Id="rId11" Type="http://schemas.openxmlformats.org/officeDocument/2006/relationships/image" Target="../media/image19.png"/><Relationship Id="rId10" Type="http://schemas.openxmlformats.org/officeDocument/2006/relationships/image" Target="../media/image13.png"/><Relationship Id="rId12" Type="http://schemas.openxmlformats.org/officeDocument/2006/relationships/image" Target="../media/image16.png"/><Relationship Id="rId9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12.jp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g"/><Relationship Id="rId4" Type="http://schemas.openxmlformats.org/officeDocument/2006/relationships/image" Target="../media/image15.png"/><Relationship Id="rId9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zDGSpL1K_2FojqOWC_L9_Za8U0poKfK-/view" TargetMode="Externa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lorful squares and lines&#10;&#10;Description automatically generated" id="136" name="Google Shape;136;p16"/>
          <p:cNvPicPr preferRelativeResize="0"/>
          <p:nvPr/>
        </p:nvPicPr>
        <p:blipFill rotWithShape="1">
          <a:blip r:embed="rId3">
            <a:alphaModFix/>
          </a:blip>
          <a:srcRect b="-1" l="13407" r="8748" t="0"/>
          <a:stretch/>
        </p:blipFill>
        <p:spPr>
          <a:xfrm>
            <a:off x="4646383" y="10"/>
            <a:ext cx="7545615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0" y="0"/>
            <a:ext cx="466221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63977" y="164592"/>
            <a:ext cx="4334256" cy="6528816"/>
          </a:xfrm>
          <a:prstGeom prst="rect">
            <a:avLst/>
          </a:prstGeom>
          <a:noFill/>
          <a:ln cap="sq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9" name="Google Shape;139;p16"/>
          <p:cNvSpPr txBox="1"/>
          <p:nvPr>
            <p:ph type="ctrTitle"/>
          </p:nvPr>
        </p:nvSpPr>
        <p:spPr>
          <a:xfrm>
            <a:off x="466524" y="1340361"/>
            <a:ext cx="3729162" cy="3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Gothic"/>
              <a:buNone/>
            </a:pPr>
            <a:r>
              <a:rPr lang="en-US" sz="3600">
                <a:solidFill>
                  <a:schemeClr val="lt1"/>
                </a:solidFill>
              </a:rPr>
              <a:t>AUTISM HACKATHON ‘25</a:t>
            </a:r>
            <a:br>
              <a:rPr lang="en-US" sz="3600">
                <a:solidFill>
                  <a:schemeClr val="lt1"/>
                </a:solidFill>
              </a:rPr>
            </a:br>
            <a:r>
              <a:rPr lang="en-US" sz="3600">
                <a:solidFill>
                  <a:schemeClr val="lt1"/>
                </a:solidFill>
              </a:rPr>
              <a:t>USE CASE 5: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Gothic"/>
              <a:buNone/>
            </a:pPr>
            <a:br>
              <a:rPr lang="en-US" sz="3600">
                <a:solidFill>
                  <a:schemeClr val="lt1"/>
                </a:solidFill>
              </a:rPr>
            </a:br>
            <a:r>
              <a:rPr b="1" lang="en-US" sz="3600">
                <a:solidFill>
                  <a:schemeClr val="lt1"/>
                </a:solidFill>
              </a:rPr>
              <a:t>XR </a:t>
            </a:r>
            <a:r>
              <a:rPr b="1" lang="en-US" sz="3600">
                <a:solidFill>
                  <a:schemeClr val="lt1"/>
                </a:solidFill>
              </a:rPr>
              <a:t>JOB TRAINING SIMULATION</a:t>
            </a:r>
            <a:endParaRPr b="1"/>
          </a:p>
        </p:txBody>
      </p:sp>
      <p:sp>
        <p:nvSpPr>
          <p:cNvPr id="140" name="Google Shape;140;p16"/>
          <p:cNvSpPr txBox="1"/>
          <p:nvPr>
            <p:ph idx="1" type="subTitle"/>
          </p:nvPr>
        </p:nvSpPr>
        <p:spPr>
          <a:xfrm>
            <a:off x="434284" y="4731476"/>
            <a:ext cx="3793642" cy="970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</a:rPr>
              <a:t>April 2</a:t>
            </a:r>
            <a:r>
              <a:rPr baseline="30000" lang="en-US">
                <a:solidFill>
                  <a:schemeClr val="lt1"/>
                </a:solidFill>
              </a:rPr>
              <a:t>nd</a:t>
            </a:r>
            <a:r>
              <a:rPr lang="en-US">
                <a:solidFill>
                  <a:schemeClr val="lt1"/>
                </a:solidFill>
              </a:rPr>
              <a:t> – April 3</a:t>
            </a:r>
            <a:r>
              <a:rPr baseline="30000" lang="en-US">
                <a:solidFill>
                  <a:schemeClr val="lt1"/>
                </a:solidFill>
              </a:rPr>
              <a:t>rd</a:t>
            </a:r>
            <a:r>
              <a:rPr lang="en-US">
                <a:solidFill>
                  <a:schemeClr val="lt1"/>
                </a:solidFill>
              </a:rPr>
              <a:t>  </a:t>
            </a:r>
            <a:endParaRPr/>
          </a:p>
        </p:txBody>
      </p:sp>
      <p:pic>
        <p:nvPicPr>
          <p:cNvPr descr="ShapesXR - BOLD Awards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1300" y="5751799"/>
            <a:ext cx="2333074" cy="4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71856" y="388179"/>
            <a:ext cx="11448300" cy="6108300"/>
          </a:xfrm>
          <a:prstGeom prst="rect">
            <a:avLst/>
          </a:prstGeom>
          <a:noFill/>
          <a:ln cap="sq" cmpd="sng" w="952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81600" y="629175"/>
            <a:ext cx="604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Executive Summary</a:t>
            </a:r>
            <a:endParaRPr b="1"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34025" y="1384200"/>
            <a:ext cx="100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Background/Situation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34025" y="3172832"/>
            <a:ext cx="100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Solution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34025" y="5105400"/>
            <a:ext cx="10098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Breaks tasks down into simple steps; physical performance of tasks increases 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learning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outcomes.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Provides positive reinforcement to make training enjoyable in a safe environment.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Includes a range of sensory experiences - visual, auditory, and kinaesthetic. Further developments can add more personalization to meet the various needs of individuals.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734025" y="4648200"/>
            <a:ext cx="100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Benefits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34025" y="3657600"/>
            <a:ext cx="1009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People 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with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Autism are often visual thinkers. An extended reality solution teaches basic job skills and enables 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repetition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of scenarios as many times as necessary, integrating seamlessly with the needs of the community and marketplace.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734025" y="1878300"/>
            <a:ext cx="10098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Autism spectrum is very broad, and some people require more 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assistance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than others to integrate with day-to-day activities. Job training is no exception. Our 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approach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provides a way to learn new skills and tasks required to perform the job and be a part of the community. The solution can be used by the individuals as well as by Behavioural Specialists as an additional learning aid. 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/>
          <p:nvPr/>
        </p:nvSpPr>
        <p:spPr>
          <a:xfrm>
            <a:off x="7620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45534" y="237744"/>
            <a:ext cx="2926200" cy="63825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19100" y="413053"/>
            <a:ext cx="2616300" cy="6064500"/>
          </a:xfrm>
          <a:prstGeom prst="rect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522600" y="228600"/>
            <a:ext cx="8212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Solution: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Mixed Reality (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XR) job training simulation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designed to encompass full visual-verbal spectrum featuring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integrated stakeholder reporting and supplemental resources</a:t>
            </a:r>
            <a:endParaRPr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Immersive game-like training simulation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Individualized Education Progress (IEP) Reporting Tracking/Coordination with Support (Development Progress)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Visual Support Tools (cards)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Architecture Overview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 txBox="1"/>
          <p:nvPr>
            <p:ph type="title"/>
          </p:nvPr>
        </p:nvSpPr>
        <p:spPr>
          <a:xfrm>
            <a:off x="557720" y="612843"/>
            <a:ext cx="2312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Goal: Job skill training using Extended Reality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557720" y="2362200"/>
            <a:ext cx="2312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1700">
                <a:solidFill>
                  <a:srgbClr val="FEFEFE"/>
                </a:solidFill>
              </a:rPr>
              <a:t>Objective</a:t>
            </a:r>
            <a:endParaRPr b="1" sz="1500">
              <a:solidFill>
                <a:srgbClr val="FEFEF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EFEFE"/>
                </a:solidFill>
              </a:rPr>
              <a:t>Teach basic job skills to people with Autism using Extended Reality </a:t>
            </a:r>
            <a:endParaRPr sz="1600">
              <a:solidFill>
                <a:srgbClr val="FEFE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700"/>
              <a:t>Scenario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/>
              <a:t>Set a</a:t>
            </a:r>
            <a:r>
              <a:rPr lang="en-US" sz="1600"/>
              <a:t> table in a restaurant 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/>
              <a:t>Ensure the place setting is complete and properly arranged</a:t>
            </a:r>
            <a:endParaRPr sz="1400">
              <a:solidFill>
                <a:srgbClr val="FEFEFE"/>
              </a:solidFill>
            </a:endParaRPr>
          </a:p>
        </p:txBody>
      </p:sp>
      <p:grpSp>
        <p:nvGrpSpPr>
          <p:cNvPr id="166" name="Google Shape;166;p18"/>
          <p:cNvGrpSpPr/>
          <p:nvPr/>
        </p:nvGrpSpPr>
        <p:grpSpPr>
          <a:xfrm>
            <a:off x="3733800" y="4419600"/>
            <a:ext cx="2209876" cy="1066782"/>
            <a:chOff x="3657600" y="4489800"/>
            <a:chExt cx="2286000" cy="1225200"/>
          </a:xfrm>
        </p:grpSpPr>
        <p:pic>
          <p:nvPicPr>
            <p:cNvPr id="167" name="Google Shape;167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57600" y="5086350"/>
              <a:ext cx="2286000" cy="628650"/>
            </a:xfrm>
            <a:prstGeom prst="rect">
              <a:avLst/>
            </a:prstGeom>
            <a:noFill/>
            <a:ln cap="sq" cmpd="sng" w="9525">
              <a:solidFill>
                <a:srgbClr val="404040"/>
              </a:solidFill>
              <a:prstDash val="solid"/>
              <a:miter lim="8000"/>
              <a:headEnd len="sm" w="sm" type="none"/>
              <a:tailEnd len="sm" w="sm" type="none"/>
            </a:ln>
          </p:spPr>
        </p:pic>
        <p:sp>
          <p:nvSpPr>
            <p:cNvPr id="168" name="Google Shape;168;p18"/>
            <p:cNvSpPr txBox="1"/>
            <p:nvPr/>
          </p:nvSpPr>
          <p:spPr>
            <a:xfrm>
              <a:off x="3848100" y="4489800"/>
              <a:ext cx="1905000" cy="7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AI Audio</a:t>
              </a:r>
              <a:endParaRPr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ElevenLabs</a:t>
              </a:r>
              <a:endParaRPr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69" name="Google Shape;169;p18"/>
          <p:cNvGrpSpPr/>
          <p:nvPr/>
        </p:nvGrpSpPr>
        <p:grpSpPr>
          <a:xfrm>
            <a:off x="3733801" y="5638800"/>
            <a:ext cx="2285999" cy="1072800"/>
            <a:chOff x="3733800" y="5621370"/>
            <a:chExt cx="2285999" cy="1072800"/>
          </a:xfrm>
        </p:grpSpPr>
        <p:pic>
          <p:nvPicPr>
            <p:cNvPr descr="ShapesXR - BOLD Awards" id="170" name="Google Shape;170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33800" y="6248400"/>
              <a:ext cx="2285999" cy="4457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18"/>
            <p:cNvSpPr txBox="1"/>
            <p:nvPr/>
          </p:nvSpPr>
          <p:spPr>
            <a:xfrm>
              <a:off x="3924300" y="5621370"/>
              <a:ext cx="1905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Prototype XR</a:t>
              </a:r>
              <a:endParaRPr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ShapesXR</a:t>
              </a:r>
              <a:endParaRPr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72" name="Google Shape;172;p18"/>
          <p:cNvGrpSpPr/>
          <p:nvPr/>
        </p:nvGrpSpPr>
        <p:grpSpPr>
          <a:xfrm>
            <a:off x="7086599" y="3651504"/>
            <a:ext cx="2057401" cy="1453675"/>
            <a:chOff x="7124700" y="3727957"/>
            <a:chExt cx="2286001" cy="1430783"/>
          </a:xfrm>
        </p:grpSpPr>
        <p:pic>
          <p:nvPicPr>
            <p:cNvPr id="173" name="Google Shape;173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24700" y="4385025"/>
              <a:ext cx="2286000" cy="7737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8"/>
            <p:cNvSpPr txBox="1"/>
            <p:nvPr/>
          </p:nvSpPr>
          <p:spPr>
            <a:xfrm>
              <a:off x="7505701" y="3727957"/>
              <a:ext cx="1905000" cy="6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Deliver</a:t>
              </a: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 XR</a:t>
              </a:r>
              <a:endParaRPr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Unity</a:t>
              </a:r>
              <a:endParaRPr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3657600" y="3048000"/>
            <a:ext cx="2286000" cy="1211720"/>
            <a:chOff x="3657600" y="3047891"/>
            <a:chExt cx="2286000" cy="1364089"/>
          </a:xfrm>
        </p:grpSpPr>
        <p:pic>
          <p:nvPicPr>
            <p:cNvPr id="176" name="Google Shape;176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657600" y="3657600"/>
              <a:ext cx="2286000" cy="754380"/>
            </a:xfrm>
            <a:prstGeom prst="rect">
              <a:avLst/>
            </a:prstGeom>
            <a:noFill/>
            <a:ln cap="sq" cmpd="sng" w="9525">
              <a:solidFill>
                <a:srgbClr val="404040"/>
              </a:solidFill>
              <a:prstDash val="solid"/>
              <a:miter lim="8000"/>
              <a:headEnd len="sm" w="sm" type="none"/>
              <a:tailEnd len="sm" w="sm" type="none"/>
            </a:ln>
          </p:spPr>
        </p:pic>
        <p:sp>
          <p:nvSpPr>
            <p:cNvPr id="177" name="Google Shape;177;p18"/>
            <p:cNvSpPr txBox="1"/>
            <p:nvPr/>
          </p:nvSpPr>
          <p:spPr>
            <a:xfrm>
              <a:off x="3848100" y="3047891"/>
              <a:ext cx="1905000" cy="6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3D Objects</a:t>
              </a:r>
              <a:endParaRPr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Sketchfab</a:t>
              </a:r>
              <a:endParaRPr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9906368" y="3581211"/>
            <a:ext cx="2133295" cy="1752512"/>
            <a:chOff x="9525000" y="4261200"/>
            <a:chExt cx="2286000" cy="1987200"/>
          </a:xfrm>
        </p:grpSpPr>
        <p:pic>
          <p:nvPicPr>
            <p:cNvPr id="179" name="Google Shape;179;p1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525000" y="4853940"/>
              <a:ext cx="2286000" cy="13944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8"/>
            <p:cNvSpPr txBox="1"/>
            <p:nvPr/>
          </p:nvSpPr>
          <p:spPr>
            <a:xfrm>
              <a:off x="9715500" y="4261200"/>
              <a:ext cx="1905000" cy="6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Hardware</a:t>
              </a:r>
              <a:endParaRPr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Quest 3 Headset*</a:t>
              </a:r>
              <a:r>
                <a:rPr b="1" lang="en-US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</a:t>
              </a:r>
              <a:endParaRPr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181" name="Google Shape;181;p18"/>
          <p:cNvCxnSpPr>
            <a:stCxn id="176" idx="3"/>
            <a:endCxn id="173" idx="1"/>
          </p:cNvCxnSpPr>
          <p:nvPr/>
        </p:nvCxnSpPr>
        <p:spPr>
          <a:xfrm>
            <a:off x="5943600" y="3924663"/>
            <a:ext cx="1143000" cy="7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18"/>
          <p:cNvCxnSpPr>
            <a:stCxn id="167" idx="3"/>
            <a:endCxn id="173" idx="1"/>
          </p:cNvCxnSpPr>
          <p:nvPr/>
        </p:nvCxnSpPr>
        <p:spPr>
          <a:xfrm flipH="1" rot="10800000">
            <a:off x="5943676" y="4711999"/>
            <a:ext cx="1143000" cy="5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18"/>
          <p:cNvCxnSpPr>
            <a:stCxn id="170" idx="3"/>
            <a:endCxn id="173" idx="1"/>
          </p:cNvCxnSpPr>
          <p:nvPr/>
        </p:nvCxnSpPr>
        <p:spPr>
          <a:xfrm flipH="1" rot="10800000">
            <a:off x="6019800" y="4712115"/>
            <a:ext cx="1066800" cy="177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18"/>
          <p:cNvCxnSpPr>
            <a:stCxn id="173" idx="3"/>
            <a:endCxn id="179" idx="1"/>
          </p:cNvCxnSpPr>
          <p:nvPr/>
        </p:nvCxnSpPr>
        <p:spPr>
          <a:xfrm>
            <a:off x="9143999" y="4712132"/>
            <a:ext cx="76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/>
        </p:nvSpPr>
        <p:spPr>
          <a:xfrm>
            <a:off x="681600" y="629175"/>
            <a:ext cx="10748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“Setting a Table” XR experience teaches users to setting a table in a game-like setting with visual &amp; auditory cues, progress tracking, and positive feedback </a:t>
            </a:r>
            <a:endParaRPr b="1"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85800" y="1676400"/>
            <a:ext cx="10744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goal is for users to repeatedly practice correct place settings in a fun and engaging environment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Immersive simulation creates the opportunity for the user to see the correct table setting, then practice placing the objects in the 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correct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places guided by object highlights, arrows, and audio prompts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Step-by-step visual progress tracker consists of “coins” and a picture of the target object (i.e., plate, napkin, glass, etc.) that light up when the task is completed correctly, complemented by positive audio feedback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91" name="Google Shape;191;p19"/>
          <p:cNvGrpSpPr/>
          <p:nvPr/>
        </p:nvGrpSpPr>
        <p:grpSpPr>
          <a:xfrm>
            <a:off x="975360" y="3849175"/>
            <a:ext cx="10241279" cy="2323025"/>
            <a:chOff x="975360" y="3696775"/>
            <a:chExt cx="10241279" cy="2323025"/>
          </a:xfrm>
        </p:grpSpPr>
        <p:pic>
          <p:nvPicPr>
            <p:cNvPr id="192" name="Google Shape;192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5360" y="3696775"/>
              <a:ext cx="3291840" cy="232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82000" y="3733801"/>
              <a:ext cx="2834640" cy="2285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4420" y="3733800"/>
              <a:ext cx="2880360" cy="228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/>
        </p:nvSpPr>
        <p:spPr>
          <a:xfrm>
            <a:off x="681600" y="629175"/>
            <a:ext cx="604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Support Infrastructure &amp; Resources</a:t>
            </a:r>
            <a:endParaRPr b="1"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0600" y="1447800"/>
            <a:ext cx="2819400" cy="3124200"/>
          </a:xfrm>
          <a:prstGeom prst="rect">
            <a:avLst/>
          </a:prstGeom>
          <a:noFill/>
          <a:ln cap="sq" cmpd="sng" w="9525">
            <a:solidFill>
              <a:srgbClr val="40404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01" name="Google Shape;201;p20"/>
          <p:cNvSpPr/>
          <p:nvPr/>
        </p:nvSpPr>
        <p:spPr>
          <a:xfrm>
            <a:off x="685800" y="1524000"/>
            <a:ext cx="7086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Visual Behavior Support Cards</a:t>
            </a:r>
            <a:endParaRPr b="1"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omplex social cues and expectations are distilled into simple, easy-to-understand visual prompts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onsistent and non-verbal way to communicate expectations, reducing confusion and anxiety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Behavior cue cards can help streamline communication, clarify expectations, and support employees who might struggle with certain aspects of their job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85800" y="4191000"/>
            <a:ext cx="7086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Individualized Education Progress (IEP) Reporting enables development progress transparency with users’ support system (</a:t>
            </a:r>
            <a:r>
              <a:rPr b="1" lang="en-US" sz="1600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FUTURE</a:t>
            </a:r>
            <a:r>
              <a:rPr b="1"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b="1"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Store results in the cloud to show progress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Record session data to analyze/generate progression metrics 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Measure time taken per action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Personalizing Recommendations and creating a custom learning track 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/>
        </p:nvSpPr>
        <p:spPr>
          <a:xfrm>
            <a:off x="681600" y="629175"/>
            <a:ext cx="604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Future State</a:t>
            </a:r>
            <a:endParaRPr b="1"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08" name="Google Shape;208;p21"/>
          <p:cNvGrpSpPr/>
          <p:nvPr/>
        </p:nvGrpSpPr>
        <p:grpSpPr>
          <a:xfrm>
            <a:off x="685800" y="1600272"/>
            <a:ext cx="7010400" cy="4617954"/>
            <a:chOff x="685800" y="1600272"/>
            <a:chExt cx="7010400" cy="4617954"/>
          </a:xfrm>
        </p:grpSpPr>
        <p:sp>
          <p:nvSpPr>
            <p:cNvPr id="209" name="Google Shape;209;p21"/>
            <p:cNvSpPr txBox="1"/>
            <p:nvPr/>
          </p:nvSpPr>
          <p:spPr>
            <a:xfrm>
              <a:off x="685800" y="1600272"/>
              <a:ext cx="7010400" cy="44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Enhancements</a:t>
              </a:r>
              <a:endParaRPr b="1" sz="18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724500" y="2190426"/>
              <a:ext cx="6933000" cy="402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●"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Remove snap functionality and targets for guidance; allow unlimited opportunities (</a:t>
              </a: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ShapesXR/Unity)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●"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Increase the difficulty of social interactions (</a:t>
              </a: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Unreal Engine)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●"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Unified Access and Tracking across physical and social skills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●"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Bundle multiple task boards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●"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Create multiple immersive experiences for job relevant social skills (Unreal Engine)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●"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Iterate the scenarios to increase complexity, while maintaining positive feedback for successful competition of each step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11" name="Google Shape;211;p21"/>
          <p:cNvSpPr txBox="1"/>
          <p:nvPr/>
        </p:nvSpPr>
        <p:spPr>
          <a:xfrm>
            <a:off x="4447236" y="1600272"/>
            <a:ext cx="3511200" cy="4469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12" name="Google Shape;212;p21"/>
          <p:cNvGrpSpPr/>
          <p:nvPr/>
        </p:nvGrpSpPr>
        <p:grpSpPr>
          <a:xfrm>
            <a:off x="8074216" y="1600272"/>
            <a:ext cx="3511200" cy="4617837"/>
            <a:chOff x="8074216" y="1447800"/>
            <a:chExt cx="3511200" cy="4770000"/>
          </a:xfrm>
        </p:grpSpPr>
        <p:sp>
          <p:nvSpPr>
            <p:cNvPr id="213" name="Google Shape;213;p21"/>
            <p:cNvSpPr txBox="1"/>
            <p:nvPr/>
          </p:nvSpPr>
          <p:spPr>
            <a:xfrm>
              <a:off x="8074216" y="1447800"/>
              <a:ext cx="35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Accessibility</a:t>
              </a:r>
              <a:endParaRPr b="1" sz="18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8075416" y="2057400"/>
              <a:ext cx="3508800" cy="41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Incorporation of additional accessibility features to customize user experience based on individual needs, considering: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302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●"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Physical Abilities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302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●"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Deaf/deaf or Hard of Hearing 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302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●"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Blind or Low Vision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30200" lvl="0" marL="457200" rtl="0" algn="l">
                <a:spcBef>
                  <a:spcPts val="1000"/>
                </a:spcBef>
                <a:spcAft>
                  <a:spcPts val="1000"/>
                </a:spcAft>
                <a:buClr>
                  <a:schemeClr val="dk1"/>
                </a:buClr>
                <a:buSzPts val="1600"/>
                <a:buFont typeface="Gill Sans"/>
                <a:buChar char="●"/>
              </a:pP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Processing Disorders - </a:t>
              </a: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Language </a:t>
              </a:r>
              <a:r>
                <a:rPr lang="en-US" sz="1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(LPD), Auditory (APD), or Sensory (SPD)</a:t>
              </a:r>
              <a:endParaRPr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215" name="Google Shape;215;p21"/>
          <p:cNvCxnSpPr/>
          <p:nvPr/>
        </p:nvCxnSpPr>
        <p:spPr>
          <a:xfrm>
            <a:off x="7696200" y="2133600"/>
            <a:ext cx="0" cy="411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/>
        </p:nvSpPr>
        <p:spPr>
          <a:xfrm>
            <a:off x="681600" y="629175"/>
            <a:ext cx="604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2025 Case 5 Team</a:t>
            </a:r>
            <a:endParaRPr b="1"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21" name="Google Shape;221;p22"/>
          <p:cNvGrpSpPr/>
          <p:nvPr/>
        </p:nvGrpSpPr>
        <p:grpSpPr>
          <a:xfrm>
            <a:off x="9697350" y="1948672"/>
            <a:ext cx="1447800" cy="2209803"/>
            <a:chOff x="9296400" y="4038597"/>
            <a:chExt cx="1447800" cy="2209803"/>
          </a:xfrm>
        </p:grpSpPr>
        <p:pic>
          <p:nvPicPr>
            <p:cNvPr id="222" name="Google Shape;222;p22"/>
            <p:cNvPicPr preferRelativeResize="0"/>
            <p:nvPr/>
          </p:nvPicPr>
          <p:blipFill rotWithShape="1">
            <a:blip r:embed="rId3">
              <a:alphaModFix/>
            </a:blip>
            <a:srcRect b="13636" l="3660" r="0" t="0"/>
            <a:stretch/>
          </p:blipFill>
          <p:spPr>
            <a:xfrm>
              <a:off x="9486901" y="4038597"/>
              <a:ext cx="1066799" cy="1447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2"/>
            <p:cNvSpPr txBox="1"/>
            <p:nvPr/>
          </p:nvSpPr>
          <p:spPr>
            <a:xfrm>
              <a:off x="9296400" y="5632800"/>
              <a:ext cx="1447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Hillary Mercer</a:t>
              </a:r>
              <a:endParaRPr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Morgan Stanley</a:t>
              </a:r>
              <a:endParaRPr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224" name="Google Shape;2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6102" y="1948674"/>
            <a:ext cx="1179875" cy="14477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22"/>
          <p:cNvGrpSpPr/>
          <p:nvPr/>
        </p:nvGrpSpPr>
        <p:grpSpPr>
          <a:xfrm>
            <a:off x="750100" y="2024875"/>
            <a:ext cx="2241600" cy="2133600"/>
            <a:chOff x="1111150" y="4114800"/>
            <a:chExt cx="2241600" cy="2133600"/>
          </a:xfrm>
        </p:grpSpPr>
        <p:pic>
          <p:nvPicPr>
            <p:cNvPr id="226" name="Google Shape;226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27850" y="4114800"/>
              <a:ext cx="17526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2"/>
            <p:cNvSpPr txBox="1"/>
            <p:nvPr/>
          </p:nvSpPr>
          <p:spPr>
            <a:xfrm>
              <a:off x="1111150" y="5632800"/>
              <a:ext cx="2241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Bethany Carlisle Morris</a:t>
              </a:r>
              <a:endParaRPr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Morgan Stanley</a:t>
              </a:r>
              <a:endParaRPr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28" name="Google Shape;228;p22"/>
          <p:cNvSpPr txBox="1"/>
          <p:nvPr/>
        </p:nvSpPr>
        <p:spPr>
          <a:xfrm>
            <a:off x="6562150" y="3548875"/>
            <a:ext cx="162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Anthony Ovando</a:t>
            </a:r>
            <a:endParaRPr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XR Developer</a:t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9" name="Google Shape;22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31501" y="1941725"/>
            <a:ext cx="1034150" cy="1461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title="AysuUnal.jpg"/>
          <p:cNvPicPr preferRelativeResize="0"/>
          <p:nvPr/>
        </p:nvPicPr>
        <p:blipFill rotWithShape="1">
          <a:blip r:embed="rId7">
            <a:alphaModFix/>
          </a:blip>
          <a:srcRect b="0" l="4990" r="-4990" t="0"/>
          <a:stretch/>
        </p:blipFill>
        <p:spPr>
          <a:xfrm>
            <a:off x="3296550" y="1957250"/>
            <a:ext cx="1430650" cy="143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4966050" y="3565825"/>
            <a:ext cx="16266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Shannon Holmes</a:t>
            </a:r>
            <a:endParaRPr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Morgan Stanley</a:t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32" name="Google Shape;23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58407" y="1948675"/>
            <a:ext cx="1034143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8163125" y="3565825"/>
            <a:ext cx="144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Jody Mitchell</a:t>
            </a:r>
            <a:endParaRPr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Rebral1</a:t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2998500" y="3565825"/>
            <a:ext cx="188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Aysu Unal</a:t>
            </a:r>
            <a:endParaRPr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Experiential Designer</a:t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ShapesXR - BOLD Awards" id="235" name="Google Shape;23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58725" y="5854551"/>
            <a:ext cx="1840318" cy="36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3151029" y="5000375"/>
            <a:ext cx="188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Michael Markman</a:t>
            </a:r>
            <a:endParaRPr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Head of Design</a:t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4739105" y="4976450"/>
            <a:ext cx="209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Jordan Lipton</a:t>
            </a:r>
            <a:endParaRPr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Spatial Design</a:t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8665201" y="6068000"/>
            <a:ext cx="16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Yash Bhatnagar</a:t>
            </a:r>
            <a:endParaRPr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39" name="Google Shape;239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21587" y="4702063"/>
            <a:ext cx="1335050" cy="13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25275" y="4699811"/>
            <a:ext cx="1179875" cy="1450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52627" y="4741914"/>
            <a:ext cx="1179875" cy="136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 txBox="1"/>
          <p:nvPr>
            <p:ph type="title"/>
          </p:nvPr>
        </p:nvSpPr>
        <p:spPr>
          <a:xfrm>
            <a:off x="685800" y="685800"/>
            <a:ext cx="10058400" cy="457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Gill Sans"/>
                <a:ea typeface="Gill Sans"/>
                <a:cs typeface="Gill Sans"/>
                <a:sym typeface="Gill Sans"/>
              </a:rPr>
              <a:t>Appendix A: </a:t>
            </a:r>
            <a:r>
              <a:rPr b="1" lang="en-US" sz="2000">
                <a:latin typeface="Gill Sans"/>
                <a:ea typeface="Gill Sans"/>
                <a:cs typeface="Gill Sans"/>
                <a:sym typeface="Gill Sans"/>
              </a:rPr>
              <a:t>MR Feedback For Table Setting: Error Correction Example  </a:t>
            </a:r>
            <a:endParaRPr b="1" sz="2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7" name="Google Shape;247;p23"/>
          <p:cNvSpPr txBox="1"/>
          <p:nvPr>
            <p:ph idx="1" type="body"/>
          </p:nvPr>
        </p:nvSpPr>
        <p:spPr>
          <a:xfrm>
            <a:off x="685800" y="1560600"/>
            <a:ext cx="10689000" cy="384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Error 1:</a:t>
            </a:r>
            <a:r>
              <a:rPr lang="en-US" sz="1600"/>
              <a:t> Plate Too Far Right/Left of Center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/>
              <a:t>Feedback:</a:t>
            </a:r>
            <a:r>
              <a:rPr lang="en-US" sz="1600"/>
              <a:t> The plate is not centered. Ensure the plate is aligned with the middle of the table, creating equal space on both sides.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/>
              <a:t>Correction Tip:</a:t>
            </a:r>
            <a:r>
              <a:rPr lang="en-US" sz="1600"/>
              <a:t> "Visualize a line down the center of the table. Adjust the plate until it’s perfectly aligned in the middle.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/>
              <a:t>Next Step:</a:t>
            </a:r>
            <a:r>
              <a:rPr lang="en-US" sz="1600"/>
              <a:t> Once centered, proceed to place the napkin to the left of the plate.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/>
              <a:t>Sound Prompts for Plate Alignment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/>
              <a:t>Misaligned Plate (Error Sound):</a:t>
            </a:r>
            <a:r>
              <a:rPr lang="en-US" sz="1600"/>
              <a:t>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LcPeriod"/>
            </a:pPr>
            <a:r>
              <a:rPr lang="en-US" sz="1600"/>
              <a:t>Play a low-pitched buzz or an error tone when the plate is off-center.  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/>
              <a:t>Correct Placement (Success Sound):</a:t>
            </a:r>
            <a:r>
              <a:rPr lang="en-US" sz="1600"/>
              <a:t>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LcPeriod"/>
            </a:pPr>
            <a:r>
              <a:rPr lang="en-US" sz="1600"/>
              <a:t>Play a gentle chime when plate is centered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"/>
          <p:cNvSpPr txBox="1"/>
          <p:nvPr>
            <p:ph idx="1" type="body"/>
          </p:nvPr>
        </p:nvSpPr>
        <p:spPr>
          <a:xfrm>
            <a:off x="1066800" y="2103120"/>
            <a:ext cx="10058400" cy="384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2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>
            <p:ph type="title"/>
          </p:nvPr>
        </p:nvSpPr>
        <p:spPr>
          <a:xfrm>
            <a:off x="838200" y="381000"/>
            <a:ext cx="10439400" cy="9144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Gill Sans"/>
                <a:ea typeface="Gill Sans"/>
                <a:cs typeface="Gill Sans"/>
                <a:sym typeface="Gill Sans"/>
              </a:rPr>
              <a:t>Appendix A: MR Feedback For Table Setting: Error Correction Example  </a:t>
            </a:r>
            <a:endParaRPr b="1" sz="2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Gill Sans"/>
                <a:ea typeface="Gill Sans"/>
                <a:cs typeface="Gill Sans"/>
                <a:sym typeface="Gill Sans"/>
              </a:rPr>
              <a:t>Future iterations include additional levels of practice, allowing free placement of objects to further build skills.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234696" y="237744"/>
            <a:ext cx="11722500" cy="6382500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671125" y="608200"/>
            <a:ext cx="604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Appendix B: Future Enhancements</a:t>
            </a:r>
            <a:endParaRPr b="1"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671125" y="1120200"/>
            <a:ext cx="10058400" cy="52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Create multiple mixed reality scenarios for physical job training tasks, with task boards to use while working (Shapes XR to Unity)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Set a cafe table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Prepare a to go order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Roll silverware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Refill condiments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Operate the point of sale system (use Toast retail iPad user interface)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Create 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multiple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immersive experiences for job relevant social skills (Unreal Engine)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Iterate the scenarios to increase complexity, while maintaining positive feedback for successful 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competition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of each step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ShapesXR/Unity - Remove snap functionality and targets for guidance; allow unlimited opportunities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Unreal Engine - Increase the 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difficulty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of social interactions 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Unified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Access and Tracking across physical and 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social skills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Bundle multiple task boards into a set and/or employ tracking implements for completion visual reminders to aid in execution 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64" name="Google Shape;264;p25"/>
          <p:cNvGrpSpPr/>
          <p:nvPr/>
        </p:nvGrpSpPr>
        <p:grpSpPr>
          <a:xfrm>
            <a:off x="9843798" y="2694873"/>
            <a:ext cx="2113390" cy="3710770"/>
            <a:chOff x="3758550" y="613125"/>
            <a:chExt cx="3191950" cy="5628349"/>
          </a:xfrm>
        </p:grpSpPr>
        <p:pic>
          <p:nvPicPr>
            <p:cNvPr id="265" name="Google Shape;265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58550" y="613125"/>
              <a:ext cx="3191950" cy="5628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56925" y="2803675"/>
              <a:ext cx="347150" cy="309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67575" y="3241625"/>
              <a:ext cx="506425" cy="309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2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894849" y="3693325"/>
              <a:ext cx="506425" cy="309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2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844912" y="4145024"/>
              <a:ext cx="571177" cy="309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2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950543" y="4582975"/>
              <a:ext cx="377857" cy="321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971850" y="5032925"/>
              <a:ext cx="352425" cy="314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2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844900" y="5484625"/>
              <a:ext cx="571200" cy="314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/>
          <p:nvPr>
            <p:ph type="title"/>
          </p:nvPr>
        </p:nvSpPr>
        <p:spPr>
          <a:xfrm>
            <a:off x="685800" y="642596"/>
            <a:ext cx="10058400" cy="568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Appendix C: Future Enhancements</a:t>
            </a: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- Accessibility</a:t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p26"/>
          <p:cNvSpPr txBox="1"/>
          <p:nvPr>
            <p:ph idx="1" type="body"/>
          </p:nvPr>
        </p:nvSpPr>
        <p:spPr>
          <a:xfrm>
            <a:off x="685800" y="1513200"/>
            <a:ext cx="10058400" cy="465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Ability to select a voice (female voices tend to have higher sounds and male voices tend to be lower, some people may respond better or remember better if one or the other)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/>
              <a:t>Possible sound effects - Sensory Input -  (</a:t>
            </a:r>
            <a:r>
              <a:rPr b="1" lang="en-US" sz="1600"/>
              <a:t>can turn on or off as per personal needs</a:t>
            </a:r>
            <a:r>
              <a:rPr lang="en-US" sz="1600"/>
              <a:t>)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Clapping at end of task</a:t>
            </a:r>
            <a:endParaRPr/>
          </a:p>
          <a:p>
            <a:pPr indent="-330200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A “ding” or some sound to signal correct placement of an item</a:t>
            </a:r>
            <a:endParaRPr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Theremin - that plays different tones the closer the item is to the correct spot - providing auditory feedback in real time (almost like “hot” / “cold”)</a:t>
            </a:r>
            <a:endParaRPr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Screen reader accessible (for visual impairments) OR all text with playable narration (e.g. can have sandwich toppings or menu items read aloud, if chosen)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Consider high contrast option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Consider colorblindness 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Ability to magnify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Text for individuals who process textual-based information better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Icons for individuals who process visual-based information better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Ability for hiding visual noise </a:t>
            </a:r>
            <a:endParaRPr sz="16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Blurring background or simplified background</a:t>
            </a:r>
            <a:endParaRPr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Ability to display one step at a time OR show all steps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>
            <p:ph type="title"/>
          </p:nvPr>
        </p:nvSpPr>
        <p:spPr>
          <a:xfrm>
            <a:off x="685800" y="609600"/>
            <a:ext cx="10058400" cy="568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Appendix D: Future Enhancements &amp; </a:t>
            </a: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Additional Context</a:t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4" name="Google Shape;284;p27"/>
          <p:cNvSpPr txBox="1"/>
          <p:nvPr>
            <p:ph idx="1" type="body"/>
          </p:nvPr>
        </p:nvSpPr>
        <p:spPr>
          <a:xfrm>
            <a:off x="6250609" y="1382400"/>
            <a:ext cx="5303400" cy="465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Outside work </a:t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Knowing your schedule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Making sure uniform and tools are kept clean and presentable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Starting a new job </a:t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doing training 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learning the new work environment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meeting colleagues / managers 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learning key information (e.g. if sick how to report, holiday info, hours open, normal schedule / routines at work, policies and procedures)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Providing personal information (e.g. Pay details (and getting paid), Emergency contact details, etc.)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Breaking work routines</a:t>
            </a:r>
            <a:r>
              <a:rPr lang="en-US" sz="1600"/>
              <a:t> - e.g. new managers or colleagues joining, if menu or shop items change, getting new tools / machines, if job responsibilities change, etc.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85" name="Google Shape;285;p27"/>
          <p:cNvSpPr txBox="1"/>
          <p:nvPr>
            <p:ph idx="1" type="body"/>
          </p:nvPr>
        </p:nvSpPr>
        <p:spPr>
          <a:xfrm>
            <a:off x="694500" y="1371600"/>
            <a:ext cx="5120700" cy="465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600"/>
              <a:t>Arriving at Work 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G</a:t>
            </a:r>
            <a:r>
              <a:rPr lang="en-US" sz="1600"/>
              <a:t>reeting people at work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Signing / clocking in at start of day / shift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Arriving at Work - Preparing to Work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Health &amp; Safety - wear / uniform - tie long hair back (or hat / hair net), change shoes if needed (e.g. if warehouse, may have steel-toed boots), ear protection / headset with microphone, gloves 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Dealing with things to wear that may not be part of non-work day routines, materials that may cause sensory issues, etc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Health &amp; Safety - washing of hands, personal habits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Personal Gear - ear protection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600"/>
              <a:t>End of Day / Shift </a:t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Clocking out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Saying Goodbye to colleagues</a:t>
            </a:r>
            <a:endParaRPr sz="1600"/>
          </a:p>
        </p:txBody>
      </p:sp>
      <p:cxnSp>
        <p:nvCxnSpPr>
          <p:cNvPr id="286" name="Google Shape;286;p27"/>
          <p:cNvCxnSpPr/>
          <p:nvPr/>
        </p:nvCxnSpPr>
        <p:spPr>
          <a:xfrm>
            <a:off x="6096000" y="1524000"/>
            <a:ext cx="0" cy="464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/>
          <p:nvPr>
            <p:ph type="title"/>
          </p:nvPr>
        </p:nvSpPr>
        <p:spPr>
          <a:xfrm>
            <a:off x="685800" y="650400"/>
            <a:ext cx="10058400" cy="568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Appendix D: </a:t>
            </a: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Future</a:t>
            </a: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Enhancements &amp; </a:t>
            </a:r>
            <a:r>
              <a:rPr b="1"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Additional Context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2" name="Google Shape;292;p28"/>
          <p:cNvSpPr txBox="1"/>
          <p:nvPr>
            <p:ph idx="1" type="body"/>
          </p:nvPr>
        </p:nvSpPr>
        <p:spPr>
          <a:xfrm>
            <a:off x="685800" y="1360800"/>
            <a:ext cx="5029200" cy="465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At Work 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Handling items, hardware, etc at work - using the right machines and tools for the job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Folding a napkin</a:t>
            </a:r>
            <a:endParaRPr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Putting items in a bag</a:t>
            </a:r>
            <a:endParaRPr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Putting items on a tray</a:t>
            </a:r>
            <a:endParaRPr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Putting items on a shelf</a:t>
            </a:r>
            <a:endParaRPr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Using the cash machine to enter order and get a total amount of money due</a:t>
            </a:r>
            <a:endParaRPr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Using cash machine and collecting amount due (counting amount)</a:t>
            </a:r>
            <a:endParaRPr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Using cash machine and giving change (counting out)</a:t>
            </a:r>
            <a:endParaRPr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Using debit machine to collect payment</a:t>
            </a:r>
            <a:endParaRPr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Giving refunds - Cash</a:t>
            </a:r>
            <a:endParaRPr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Giving refunds - Card Payment</a:t>
            </a:r>
            <a:endParaRPr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Making a sandwich / sub (order)</a:t>
            </a:r>
            <a:endParaRPr/>
          </a:p>
        </p:txBody>
      </p:sp>
      <p:sp>
        <p:nvSpPr>
          <p:cNvPr id="293" name="Google Shape;293;p28"/>
          <p:cNvSpPr txBox="1"/>
          <p:nvPr>
            <p:ph idx="1" type="body"/>
          </p:nvPr>
        </p:nvSpPr>
        <p:spPr>
          <a:xfrm>
            <a:off x="6400800" y="1654800"/>
            <a:ext cx="5029200" cy="427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Keeping work space clean / clear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Health &amp; Safety  - cleaning up messes / spills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Emergency Procedures - Fire Drill, Leaks, etc.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●"/>
            </a:pPr>
            <a:r>
              <a:rPr lang="en-US" sz="1600"/>
              <a:t>Interacting with colleagues or customers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Greeting customers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Taking orders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Dealing with conflict at work (e.g. irate customers, things not working properly or going to plan, etc.)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○"/>
            </a:pPr>
            <a:r>
              <a:rPr lang="en-US"/>
              <a:t>Raising issues to manager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Dealing with Injury or Sickness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○"/>
            </a:pPr>
            <a:r>
              <a:rPr lang="en-US"/>
              <a:t>Small Injury - e.g. needing a bandaid or Ice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○"/>
            </a:pPr>
            <a:r>
              <a:rPr lang="en-US"/>
              <a:t>Larger Injury - e.g. hospital visit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○"/>
            </a:pPr>
            <a:r>
              <a:rPr lang="en-US"/>
              <a:t>Sickness 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US" sz="1600"/>
              <a:t>At Work - Staff Meetings</a:t>
            </a:r>
            <a:endParaRPr sz="1600"/>
          </a:p>
        </p:txBody>
      </p:sp>
      <p:cxnSp>
        <p:nvCxnSpPr>
          <p:cNvPr id="294" name="Google Shape;294;p28"/>
          <p:cNvCxnSpPr/>
          <p:nvPr/>
        </p:nvCxnSpPr>
        <p:spPr>
          <a:xfrm>
            <a:off x="6096000" y="1676400"/>
            <a:ext cx="0" cy="472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9" title="great job team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475" y="4447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vonVTI">
  <a:themeElements>
    <a:clrScheme name="AnalogousFromRegularSeed_2SEEDS">
      <a:dk1>
        <a:srgbClr val="000000"/>
      </a:dk1>
      <a:lt1>
        <a:srgbClr val="FFFFFF"/>
      </a:lt1>
      <a:dk2>
        <a:srgbClr val="321C1C"/>
      </a:dk2>
      <a:lt2>
        <a:srgbClr val="F2F0F3"/>
      </a:lt2>
      <a:accent1>
        <a:srgbClr val="45B71B"/>
      </a:accent1>
      <a:accent2>
        <a:srgbClr val="83AE25"/>
      </a:accent2>
      <a:accent3>
        <a:srgbClr val="27B93C"/>
      </a:accent3>
      <a:accent4>
        <a:srgbClr val="552ED2"/>
      </a:accent4>
      <a:accent5>
        <a:srgbClr val="A430E0"/>
      </a:accent5>
      <a:accent6>
        <a:srgbClr val="CE1EC1"/>
      </a:accent6>
      <a:hlink>
        <a:srgbClr val="9C3FB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avonVTI">
  <a:themeElements>
    <a:clrScheme name="AnalogousFromRegularSeed_2SEEDS">
      <a:dk1>
        <a:srgbClr val="000000"/>
      </a:dk1>
      <a:lt1>
        <a:srgbClr val="FFFFFF"/>
      </a:lt1>
      <a:dk2>
        <a:srgbClr val="321C1C"/>
      </a:dk2>
      <a:lt2>
        <a:srgbClr val="F2F0F3"/>
      </a:lt2>
      <a:accent1>
        <a:srgbClr val="45B71B"/>
      </a:accent1>
      <a:accent2>
        <a:srgbClr val="83AE25"/>
      </a:accent2>
      <a:accent3>
        <a:srgbClr val="27B93C"/>
      </a:accent3>
      <a:accent4>
        <a:srgbClr val="552ED2"/>
      </a:accent4>
      <a:accent5>
        <a:srgbClr val="A430E0"/>
      </a:accent5>
      <a:accent6>
        <a:srgbClr val="CE1EC1"/>
      </a:accent6>
      <a:hlink>
        <a:srgbClr val="9C3FB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